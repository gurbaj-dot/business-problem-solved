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08CE61D-A988-4303-9C4D-29325F6B56F7}" v="8" dt="2026-08-01T18:36:13.22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47" d="100"/>
          <a:sy n="47" d="100"/>
        </p:scale>
        <p:origin x="91" y="4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microsoft.com/office/2015/10/relationships/revisionInfo" Target="revisionInfo.xml"/><Relationship Id="rId3" Type="http://schemas.openxmlformats.org/officeDocument/2006/relationships/presProps" Target="presProps.xml"/><Relationship Id="rId7" Type="http://schemas.microsoft.com/office/2016/11/relationships/changesInfo" Target="changesInfos/changesInfo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urbaj Singh" userId="59bdaa502fe36a20" providerId="LiveId" clId="{37302FD4-FC16-44C1-87ED-097072492F30}"/>
    <pc:docChg chg="custSel delSld modSld">
      <pc:chgData name="Gurbaj Singh" userId="59bdaa502fe36a20" providerId="LiveId" clId="{37302FD4-FC16-44C1-87ED-097072492F30}" dt="2026-08-01T18:55:04.071" v="183" actId="47"/>
      <pc:docMkLst>
        <pc:docMk/>
      </pc:docMkLst>
      <pc:sldChg chg="modSp mod">
        <pc:chgData name="Gurbaj Singh" userId="59bdaa502fe36a20" providerId="LiveId" clId="{37302FD4-FC16-44C1-87ED-097072492F30}" dt="2026-08-01T18:54:43.501" v="182" actId="113"/>
        <pc:sldMkLst>
          <pc:docMk/>
          <pc:sldMk cId="1836305039" sldId="256"/>
        </pc:sldMkLst>
        <pc:spChg chg="mod">
          <ac:chgData name="Gurbaj Singh" userId="59bdaa502fe36a20" providerId="LiveId" clId="{37302FD4-FC16-44C1-87ED-097072492F30}" dt="2026-08-01T18:54:43.501" v="182" actId="113"/>
          <ac:spMkLst>
            <pc:docMk/>
            <pc:sldMk cId="1836305039" sldId="256"/>
            <ac:spMk id="4" creationId="{8967B072-56C4-CD27-F6BF-61B824A99799}"/>
          </ac:spMkLst>
        </pc:spChg>
        <pc:spChg chg="mod">
          <ac:chgData name="Gurbaj Singh" userId="59bdaa502fe36a20" providerId="LiveId" clId="{37302FD4-FC16-44C1-87ED-097072492F30}" dt="2026-08-01T14:46:07.876" v="66" actId="20577"/>
          <ac:spMkLst>
            <pc:docMk/>
            <pc:sldMk cId="1836305039" sldId="256"/>
            <ac:spMk id="5" creationId="{6E1FEC4B-9384-DAE2-04FC-002335E7AE25}"/>
          </ac:spMkLst>
        </pc:spChg>
      </pc:sldChg>
      <pc:sldChg chg="addSp modSp del mod">
        <pc:chgData name="Gurbaj Singh" userId="59bdaa502fe36a20" providerId="LiveId" clId="{37302FD4-FC16-44C1-87ED-097072492F30}" dt="2026-08-01T18:55:04.071" v="183" actId="47"/>
        <pc:sldMkLst>
          <pc:docMk/>
          <pc:sldMk cId="435728922" sldId="257"/>
        </pc:sldMkLst>
        <pc:spChg chg="mod">
          <ac:chgData name="Gurbaj Singh" userId="59bdaa502fe36a20" providerId="LiveId" clId="{37302FD4-FC16-44C1-87ED-097072492F30}" dt="2026-08-01T14:46:26.386" v="75" actId="20577"/>
          <ac:spMkLst>
            <pc:docMk/>
            <pc:sldMk cId="435728922" sldId="257"/>
            <ac:spMk id="2" creationId="{E568C0D4-C9C6-DE7C-53D2-FE2E8D7F7F66}"/>
          </ac:spMkLst>
        </pc:spChg>
        <pc:spChg chg="mod">
          <ac:chgData name="Gurbaj Singh" userId="59bdaa502fe36a20" providerId="LiveId" clId="{37302FD4-FC16-44C1-87ED-097072492F30}" dt="2026-08-01T18:30:39.155" v="91" actId="20577"/>
          <ac:spMkLst>
            <pc:docMk/>
            <pc:sldMk cId="435728922" sldId="257"/>
            <ac:spMk id="3" creationId="{4107793C-5766-10F0-B261-624C15D0B069}"/>
          </ac:spMkLst>
        </pc:spChg>
        <pc:graphicFrameChg chg="add mod modGraphic">
          <ac:chgData name="Gurbaj Singh" userId="59bdaa502fe36a20" providerId="LiveId" clId="{37302FD4-FC16-44C1-87ED-097072492F30}" dt="2026-08-01T18:36:44.480" v="111" actId="20577"/>
          <ac:graphicFrameMkLst>
            <pc:docMk/>
            <pc:sldMk cId="435728922" sldId="257"/>
            <ac:graphicFrameMk id="4" creationId="{E511108F-3549-7D45-FE76-C09AFFD396B7}"/>
          </ac:graphicFrameMkLst>
        </pc:graphicFrameChg>
        <pc:graphicFrameChg chg="add mod">
          <ac:chgData name="Gurbaj Singh" userId="59bdaa502fe36a20" providerId="LiveId" clId="{37302FD4-FC16-44C1-87ED-097072492F30}" dt="2026-08-01T18:37:05.629" v="116" actId="14100"/>
          <ac:graphicFrameMkLst>
            <pc:docMk/>
            <pc:sldMk cId="435728922" sldId="257"/>
            <ac:graphicFrameMk id="5" creationId="{F1A519E7-4D6C-59F2-7263-28202129B370}"/>
          </ac:graphicFrameMkLst>
        </pc:graphicFrame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202642-66A7-43C8-5F86-849BACF7CA0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C78D8BA9-2FBF-5ECE-B1CD-8946670A69E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4259C54A-F4A7-EB03-C306-26920E060907}"/>
              </a:ext>
            </a:extLst>
          </p:cNvPr>
          <p:cNvSpPr>
            <a:spLocks noGrp="1"/>
          </p:cNvSpPr>
          <p:nvPr>
            <p:ph type="dt" sz="half" idx="10"/>
          </p:nvPr>
        </p:nvSpPr>
        <p:spPr/>
        <p:txBody>
          <a:bodyPr/>
          <a:lstStyle/>
          <a:p>
            <a:fld id="{7E1DCE76-E0BF-482A-97BA-7815D51D5DC8}" type="datetimeFigureOut">
              <a:rPr lang="en-US" smtClean="0"/>
              <a:t>8/1/2026</a:t>
            </a:fld>
            <a:endParaRPr lang="en-US"/>
          </a:p>
        </p:txBody>
      </p:sp>
      <p:sp>
        <p:nvSpPr>
          <p:cNvPr id="5" name="Footer Placeholder 4">
            <a:extLst>
              <a:ext uri="{FF2B5EF4-FFF2-40B4-BE49-F238E27FC236}">
                <a16:creationId xmlns:a16="http://schemas.microsoft.com/office/drawing/2014/main" id="{2E247C39-6E82-8E72-6D83-596665E25C4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5982113-5738-2D52-32BA-FDAAC353965C}"/>
              </a:ext>
            </a:extLst>
          </p:cNvPr>
          <p:cNvSpPr>
            <a:spLocks noGrp="1"/>
          </p:cNvSpPr>
          <p:nvPr>
            <p:ph type="sldNum" sz="quarter" idx="12"/>
          </p:nvPr>
        </p:nvSpPr>
        <p:spPr/>
        <p:txBody>
          <a:bodyPr/>
          <a:lstStyle/>
          <a:p>
            <a:fld id="{FD561A32-B8B5-4F65-B0B4-6EF51CAB913F}" type="slidenum">
              <a:rPr lang="en-US" smtClean="0"/>
              <a:t>‹#›</a:t>
            </a:fld>
            <a:endParaRPr lang="en-US"/>
          </a:p>
        </p:txBody>
      </p:sp>
    </p:spTree>
    <p:extLst>
      <p:ext uri="{BB962C8B-B14F-4D97-AF65-F5344CB8AC3E}">
        <p14:creationId xmlns:p14="http://schemas.microsoft.com/office/powerpoint/2010/main" val="291595696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52E45C-0BDF-79E0-4980-294EEFB8462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6435102-736A-A136-A90B-8B091411072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707F16A-13D4-CDBF-37CB-C9FF58550778}"/>
              </a:ext>
            </a:extLst>
          </p:cNvPr>
          <p:cNvSpPr>
            <a:spLocks noGrp="1"/>
          </p:cNvSpPr>
          <p:nvPr>
            <p:ph type="dt" sz="half" idx="10"/>
          </p:nvPr>
        </p:nvSpPr>
        <p:spPr/>
        <p:txBody>
          <a:bodyPr/>
          <a:lstStyle/>
          <a:p>
            <a:fld id="{7E1DCE76-E0BF-482A-97BA-7815D51D5DC8}" type="datetimeFigureOut">
              <a:rPr lang="en-US" smtClean="0"/>
              <a:t>8/1/2026</a:t>
            </a:fld>
            <a:endParaRPr lang="en-US"/>
          </a:p>
        </p:txBody>
      </p:sp>
      <p:sp>
        <p:nvSpPr>
          <p:cNvPr id="5" name="Footer Placeholder 4">
            <a:extLst>
              <a:ext uri="{FF2B5EF4-FFF2-40B4-BE49-F238E27FC236}">
                <a16:creationId xmlns:a16="http://schemas.microsoft.com/office/drawing/2014/main" id="{F565124E-671D-44CF-D6D1-7C9ED53C046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17C7B16-BE02-16D7-A12E-9B0517CC678B}"/>
              </a:ext>
            </a:extLst>
          </p:cNvPr>
          <p:cNvSpPr>
            <a:spLocks noGrp="1"/>
          </p:cNvSpPr>
          <p:nvPr>
            <p:ph type="sldNum" sz="quarter" idx="12"/>
          </p:nvPr>
        </p:nvSpPr>
        <p:spPr/>
        <p:txBody>
          <a:bodyPr/>
          <a:lstStyle/>
          <a:p>
            <a:fld id="{FD561A32-B8B5-4F65-B0B4-6EF51CAB913F}" type="slidenum">
              <a:rPr lang="en-US" smtClean="0"/>
              <a:t>‹#›</a:t>
            </a:fld>
            <a:endParaRPr lang="en-US"/>
          </a:p>
        </p:txBody>
      </p:sp>
    </p:spTree>
    <p:extLst>
      <p:ext uri="{BB962C8B-B14F-4D97-AF65-F5344CB8AC3E}">
        <p14:creationId xmlns:p14="http://schemas.microsoft.com/office/powerpoint/2010/main" val="3534053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958460-FA5C-7DD8-854C-0BEE51CD720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E1517A18-866C-D989-B802-12B22180B89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AF7D280-AFF1-162F-FE72-1A89C59C3D5C}"/>
              </a:ext>
            </a:extLst>
          </p:cNvPr>
          <p:cNvSpPr>
            <a:spLocks noGrp="1"/>
          </p:cNvSpPr>
          <p:nvPr>
            <p:ph type="dt" sz="half" idx="10"/>
          </p:nvPr>
        </p:nvSpPr>
        <p:spPr/>
        <p:txBody>
          <a:bodyPr/>
          <a:lstStyle/>
          <a:p>
            <a:fld id="{7E1DCE76-E0BF-482A-97BA-7815D51D5DC8}" type="datetimeFigureOut">
              <a:rPr lang="en-US" smtClean="0"/>
              <a:t>8/1/2026</a:t>
            </a:fld>
            <a:endParaRPr lang="en-US"/>
          </a:p>
        </p:txBody>
      </p:sp>
      <p:sp>
        <p:nvSpPr>
          <p:cNvPr id="5" name="Footer Placeholder 4">
            <a:extLst>
              <a:ext uri="{FF2B5EF4-FFF2-40B4-BE49-F238E27FC236}">
                <a16:creationId xmlns:a16="http://schemas.microsoft.com/office/drawing/2014/main" id="{1BEC13C1-8151-611B-2375-45EF169A57F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7D6672B-7207-38D5-3F68-356E30BF7D7F}"/>
              </a:ext>
            </a:extLst>
          </p:cNvPr>
          <p:cNvSpPr>
            <a:spLocks noGrp="1"/>
          </p:cNvSpPr>
          <p:nvPr>
            <p:ph type="sldNum" sz="quarter" idx="12"/>
          </p:nvPr>
        </p:nvSpPr>
        <p:spPr/>
        <p:txBody>
          <a:bodyPr/>
          <a:lstStyle/>
          <a:p>
            <a:fld id="{FD561A32-B8B5-4F65-B0B4-6EF51CAB913F}" type="slidenum">
              <a:rPr lang="en-US" smtClean="0"/>
              <a:t>‹#›</a:t>
            </a:fld>
            <a:endParaRPr lang="en-US"/>
          </a:p>
        </p:txBody>
      </p:sp>
    </p:spTree>
    <p:extLst>
      <p:ext uri="{BB962C8B-B14F-4D97-AF65-F5344CB8AC3E}">
        <p14:creationId xmlns:p14="http://schemas.microsoft.com/office/powerpoint/2010/main" val="137074626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C2FEF0-DB61-9EDC-2C7D-9E68D76D461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1CFD351-CB5A-2555-BBD2-6D29F795084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6C79DD06-92E1-EF20-75C6-98747CEC9CC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CF5E2DE8-02F0-9A4A-2A61-0EE6E4384043}"/>
              </a:ext>
            </a:extLst>
          </p:cNvPr>
          <p:cNvSpPr>
            <a:spLocks noGrp="1"/>
          </p:cNvSpPr>
          <p:nvPr>
            <p:ph type="dt" sz="half" idx="10"/>
          </p:nvPr>
        </p:nvSpPr>
        <p:spPr/>
        <p:txBody>
          <a:bodyPr/>
          <a:lstStyle/>
          <a:p>
            <a:fld id="{7E1DCE76-E0BF-482A-97BA-7815D51D5DC8}" type="datetimeFigureOut">
              <a:rPr lang="en-US" smtClean="0"/>
              <a:t>8/1/2026</a:t>
            </a:fld>
            <a:endParaRPr lang="en-US"/>
          </a:p>
        </p:txBody>
      </p:sp>
      <p:sp>
        <p:nvSpPr>
          <p:cNvPr id="6" name="Footer Placeholder 5">
            <a:extLst>
              <a:ext uri="{FF2B5EF4-FFF2-40B4-BE49-F238E27FC236}">
                <a16:creationId xmlns:a16="http://schemas.microsoft.com/office/drawing/2014/main" id="{B94C32FB-EDD3-1317-A9C5-C493030339B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9B2B27D-74FC-AC4F-5A17-FEA7DC7EA637}"/>
              </a:ext>
            </a:extLst>
          </p:cNvPr>
          <p:cNvSpPr>
            <a:spLocks noGrp="1"/>
          </p:cNvSpPr>
          <p:nvPr>
            <p:ph type="sldNum" sz="quarter" idx="12"/>
          </p:nvPr>
        </p:nvSpPr>
        <p:spPr/>
        <p:txBody>
          <a:bodyPr/>
          <a:lstStyle/>
          <a:p>
            <a:fld id="{FD561A32-B8B5-4F65-B0B4-6EF51CAB913F}" type="slidenum">
              <a:rPr lang="en-US" smtClean="0"/>
              <a:t>‹#›</a:t>
            </a:fld>
            <a:endParaRPr lang="en-US"/>
          </a:p>
        </p:txBody>
      </p:sp>
    </p:spTree>
    <p:extLst>
      <p:ext uri="{BB962C8B-B14F-4D97-AF65-F5344CB8AC3E}">
        <p14:creationId xmlns:p14="http://schemas.microsoft.com/office/powerpoint/2010/main" val="158837604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740C1A-2593-DDC2-A44B-1817DDFB5899}"/>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280D3270-4B6C-9EEC-3348-E2D34AAEFF6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675D040-62CC-8A9E-1314-DB93281983C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EC040F5A-0939-03EE-BFA9-BB226D6F568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548DCF5-5951-8EC9-8FD5-9ACD3424E65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7ED2EF22-07F0-6E3B-B34B-8F00BC3791C1}"/>
              </a:ext>
            </a:extLst>
          </p:cNvPr>
          <p:cNvSpPr>
            <a:spLocks noGrp="1"/>
          </p:cNvSpPr>
          <p:nvPr>
            <p:ph type="dt" sz="half" idx="10"/>
          </p:nvPr>
        </p:nvSpPr>
        <p:spPr/>
        <p:txBody>
          <a:bodyPr/>
          <a:lstStyle/>
          <a:p>
            <a:fld id="{7E1DCE76-E0BF-482A-97BA-7815D51D5DC8}" type="datetimeFigureOut">
              <a:rPr lang="en-US" smtClean="0"/>
              <a:t>8/1/2026</a:t>
            </a:fld>
            <a:endParaRPr lang="en-US"/>
          </a:p>
        </p:txBody>
      </p:sp>
      <p:sp>
        <p:nvSpPr>
          <p:cNvPr id="8" name="Footer Placeholder 7">
            <a:extLst>
              <a:ext uri="{FF2B5EF4-FFF2-40B4-BE49-F238E27FC236}">
                <a16:creationId xmlns:a16="http://schemas.microsoft.com/office/drawing/2014/main" id="{BE441A8F-6AF9-EE89-AB6C-6E359E146FB5}"/>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5E660DAA-1D1B-FC89-B0C8-7E7E6A9FEF93}"/>
              </a:ext>
            </a:extLst>
          </p:cNvPr>
          <p:cNvSpPr>
            <a:spLocks noGrp="1"/>
          </p:cNvSpPr>
          <p:nvPr>
            <p:ph type="sldNum" sz="quarter" idx="12"/>
          </p:nvPr>
        </p:nvSpPr>
        <p:spPr/>
        <p:txBody>
          <a:bodyPr/>
          <a:lstStyle/>
          <a:p>
            <a:fld id="{FD561A32-B8B5-4F65-B0B4-6EF51CAB913F}" type="slidenum">
              <a:rPr lang="en-US" smtClean="0"/>
              <a:t>‹#›</a:t>
            </a:fld>
            <a:endParaRPr lang="en-US"/>
          </a:p>
        </p:txBody>
      </p:sp>
    </p:spTree>
    <p:extLst>
      <p:ext uri="{BB962C8B-B14F-4D97-AF65-F5344CB8AC3E}">
        <p14:creationId xmlns:p14="http://schemas.microsoft.com/office/powerpoint/2010/main" val="202399747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4C5217-4959-6DD2-FB48-08510A6410A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16745F69-9078-5F43-576D-86E2FA566CCE}"/>
              </a:ext>
            </a:extLst>
          </p:cNvPr>
          <p:cNvSpPr>
            <a:spLocks noGrp="1"/>
          </p:cNvSpPr>
          <p:nvPr>
            <p:ph type="dt" sz="half" idx="10"/>
          </p:nvPr>
        </p:nvSpPr>
        <p:spPr/>
        <p:txBody>
          <a:bodyPr/>
          <a:lstStyle/>
          <a:p>
            <a:fld id="{7E1DCE76-E0BF-482A-97BA-7815D51D5DC8}" type="datetimeFigureOut">
              <a:rPr lang="en-US" smtClean="0"/>
              <a:t>8/1/2026</a:t>
            </a:fld>
            <a:endParaRPr lang="en-US"/>
          </a:p>
        </p:txBody>
      </p:sp>
      <p:sp>
        <p:nvSpPr>
          <p:cNvPr id="4" name="Footer Placeholder 3">
            <a:extLst>
              <a:ext uri="{FF2B5EF4-FFF2-40B4-BE49-F238E27FC236}">
                <a16:creationId xmlns:a16="http://schemas.microsoft.com/office/drawing/2014/main" id="{BC47E9B9-A08A-6D90-5ADF-43B292635BA0}"/>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088C0955-7421-D400-3C06-6D155F8C3BCE}"/>
              </a:ext>
            </a:extLst>
          </p:cNvPr>
          <p:cNvSpPr>
            <a:spLocks noGrp="1"/>
          </p:cNvSpPr>
          <p:nvPr>
            <p:ph type="sldNum" sz="quarter" idx="12"/>
          </p:nvPr>
        </p:nvSpPr>
        <p:spPr/>
        <p:txBody>
          <a:bodyPr/>
          <a:lstStyle/>
          <a:p>
            <a:fld id="{FD561A32-B8B5-4F65-B0B4-6EF51CAB913F}" type="slidenum">
              <a:rPr lang="en-US" smtClean="0"/>
              <a:t>‹#›</a:t>
            </a:fld>
            <a:endParaRPr lang="en-US"/>
          </a:p>
        </p:txBody>
      </p:sp>
    </p:spTree>
    <p:extLst>
      <p:ext uri="{BB962C8B-B14F-4D97-AF65-F5344CB8AC3E}">
        <p14:creationId xmlns:p14="http://schemas.microsoft.com/office/powerpoint/2010/main" val="338855306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9302E59-3065-FE16-FB68-C6EA02FD2ADF}"/>
              </a:ext>
            </a:extLst>
          </p:cNvPr>
          <p:cNvSpPr>
            <a:spLocks noGrp="1"/>
          </p:cNvSpPr>
          <p:nvPr>
            <p:ph type="dt" sz="half" idx="10"/>
          </p:nvPr>
        </p:nvSpPr>
        <p:spPr/>
        <p:txBody>
          <a:bodyPr/>
          <a:lstStyle/>
          <a:p>
            <a:fld id="{7E1DCE76-E0BF-482A-97BA-7815D51D5DC8}" type="datetimeFigureOut">
              <a:rPr lang="en-US" smtClean="0"/>
              <a:t>8/1/2026</a:t>
            </a:fld>
            <a:endParaRPr lang="en-US"/>
          </a:p>
        </p:txBody>
      </p:sp>
      <p:sp>
        <p:nvSpPr>
          <p:cNvPr id="3" name="Footer Placeholder 2">
            <a:extLst>
              <a:ext uri="{FF2B5EF4-FFF2-40B4-BE49-F238E27FC236}">
                <a16:creationId xmlns:a16="http://schemas.microsoft.com/office/drawing/2014/main" id="{A58D1027-B267-64E9-6B01-4ECEFF3EE11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019EEC52-74A4-D508-DDD1-234BA3C422FB}"/>
              </a:ext>
            </a:extLst>
          </p:cNvPr>
          <p:cNvSpPr>
            <a:spLocks noGrp="1"/>
          </p:cNvSpPr>
          <p:nvPr>
            <p:ph type="sldNum" sz="quarter" idx="12"/>
          </p:nvPr>
        </p:nvSpPr>
        <p:spPr/>
        <p:txBody>
          <a:bodyPr/>
          <a:lstStyle/>
          <a:p>
            <a:fld id="{FD561A32-B8B5-4F65-B0B4-6EF51CAB913F}" type="slidenum">
              <a:rPr lang="en-US" smtClean="0"/>
              <a:t>‹#›</a:t>
            </a:fld>
            <a:endParaRPr lang="en-US"/>
          </a:p>
        </p:txBody>
      </p:sp>
    </p:spTree>
    <p:extLst>
      <p:ext uri="{BB962C8B-B14F-4D97-AF65-F5344CB8AC3E}">
        <p14:creationId xmlns:p14="http://schemas.microsoft.com/office/powerpoint/2010/main" val="201850583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9F78CD-F3AE-B1E6-E9D6-2D4A392616E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25A4B90A-8D4C-0016-DE4F-2D01D1E645A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A68A00D-D4C8-B1FA-A5C1-06976D8BE31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D749BF2-1D90-8CE5-5984-B3C5DE594842}"/>
              </a:ext>
            </a:extLst>
          </p:cNvPr>
          <p:cNvSpPr>
            <a:spLocks noGrp="1"/>
          </p:cNvSpPr>
          <p:nvPr>
            <p:ph type="dt" sz="half" idx="10"/>
          </p:nvPr>
        </p:nvSpPr>
        <p:spPr/>
        <p:txBody>
          <a:bodyPr/>
          <a:lstStyle/>
          <a:p>
            <a:fld id="{7E1DCE76-E0BF-482A-97BA-7815D51D5DC8}" type="datetimeFigureOut">
              <a:rPr lang="en-US" smtClean="0"/>
              <a:t>8/1/2026</a:t>
            </a:fld>
            <a:endParaRPr lang="en-US"/>
          </a:p>
        </p:txBody>
      </p:sp>
      <p:sp>
        <p:nvSpPr>
          <p:cNvPr id="6" name="Footer Placeholder 5">
            <a:extLst>
              <a:ext uri="{FF2B5EF4-FFF2-40B4-BE49-F238E27FC236}">
                <a16:creationId xmlns:a16="http://schemas.microsoft.com/office/drawing/2014/main" id="{39E468E5-4D1C-AE76-3923-5E3603D5539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99E7CC0-C320-5ABA-593D-FABC1B894B77}"/>
              </a:ext>
            </a:extLst>
          </p:cNvPr>
          <p:cNvSpPr>
            <a:spLocks noGrp="1"/>
          </p:cNvSpPr>
          <p:nvPr>
            <p:ph type="sldNum" sz="quarter" idx="12"/>
          </p:nvPr>
        </p:nvSpPr>
        <p:spPr/>
        <p:txBody>
          <a:bodyPr/>
          <a:lstStyle/>
          <a:p>
            <a:fld id="{FD561A32-B8B5-4F65-B0B4-6EF51CAB913F}" type="slidenum">
              <a:rPr lang="en-US" smtClean="0"/>
              <a:t>‹#›</a:t>
            </a:fld>
            <a:endParaRPr lang="en-US"/>
          </a:p>
        </p:txBody>
      </p:sp>
    </p:spTree>
    <p:extLst>
      <p:ext uri="{BB962C8B-B14F-4D97-AF65-F5344CB8AC3E}">
        <p14:creationId xmlns:p14="http://schemas.microsoft.com/office/powerpoint/2010/main" val="7484776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936BE0-278B-20CA-09A9-E5B9D253896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3370836D-12FB-0863-A2B5-4DA6CDD46CC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6BC89453-2F2D-7B81-6B43-50321889364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3C3B198-2C4B-F8F9-3447-69D8AE283753}"/>
              </a:ext>
            </a:extLst>
          </p:cNvPr>
          <p:cNvSpPr>
            <a:spLocks noGrp="1"/>
          </p:cNvSpPr>
          <p:nvPr>
            <p:ph type="dt" sz="half" idx="10"/>
          </p:nvPr>
        </p:nvSpPr>
        <p:spPr/>
        <p:txBody>
          <a:bodyPr/>
          <a:lstStyle/>
          <a:p>
            <a:fld id="{7E1DCE76-E0BF-482A-97BA-7815D51D5DC8}" type="datetimeFigureOut">
              <a:rPr lang="en-US" smtClean="0"/>
              <a:t>8/1/2026</a:t>
            </a:fld>
            <a:endParaRPr lang="en-US"/>
          </a:p>
        </p:txBody>
      </p:sp>
      <p:sp>
        <p:nvSpPr>
          <p:cNvPr id="6" name="Footer Placeholder 5">
            <a:extLst>
              <a:ext uri="{FF2B5EF4-FFF2-40B4-BE49-F238E27FC236}">
                <a16:creationId xmlns:a16="http://schemas.microsoft.com/office/drawing/2014/main" id="{DD44CA26-99EF-39E7-5A4B-16CA6DB8F36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ED42B79-1EB4-E5CE-A4B2-CE1270573B86}"/>
              </a:ext>
            </a:extLst>
          </p:cNvPr>
          <p:cNvSpPr>
            <a:spLocks noGrp="1"/>
          </p:cNvSpPr>
          <p:nvPr>
            <p:ph type="sldNum" sz="quarter" idx="12"/>
          </p:nvPr>
        </p:nvSpPr>
        <p:spPr/>
        <p:txBody>
          <a:bodyPr/>
          <a:lstStyle/>
          <a:p>
            <a:fld id="{FD561A32-B8B5-4F65-B0B4-6EF51CAB913F}" type="slidenum">
              <a:rPr lang="en-US" smtClean="0"/>
              <a:t>‹#›</a:t>
            </a:fld>
            <a:endParaRPr lang="en-US"/>
          </a:p>
        </p:txBody>
      </p:sp>
    </p:spTree>
    <p:extLst>
      <p:ext uri="{BB962C8B-B14F-4D97-AF65-F5344CB8AC3E}">
        <p14:creationId xmlns:p14="http://schemas.microsoft.com/office/powerpoint/2010/main" val="172055832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DCE4F8-C4A3-160A-E60E-3537CEEF62FB}"/>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2BF71E7B-6A75-6CC6-3FC3-0987DBCB9C8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D0FC9E1-3ECF-174B-CD6D-618567FC085C}"/>
              </a:ext>
            </a:extLst>
          </p:cNvPr>
          <p:cNvSpPr>
            <a:spLocks noGrp="1"/>
          </p:cNvSpPr>
          <p:nvPr>
            <p:ph type="dt" sz="half" idx="10"/>
          </p:nvPr>
        </p:nvSpPr>
        <p:spPr/>
        <p:txBody>
          <a:bodyPr/>
          <a:lstStyle/>
          <a:p>
            <a:fld id="{7E1DCE76-E0BF-482A-97BA-7815D51D5DC8}" type="datetimeFigureOut">
              <a:rPr lang="en-US" smtClean="0"/>
              <a:t>8/1/2026</a:t>
            </a:fld>
            <a:endParaRPr lang="en-US"/>
          </a:p>
        </p:txBody>
      </p:sp>
      <p:sp>
        <p:nvSpPr>
          <p:cNvPr id="5" name="Footer Placeholder 4">
            <a:extLst>
              <a:ext uri="{FF2B5EF4-FFF2-40B4-BE49-F238E27FC236}">
                <a16:creationId xmlns:a16="http://schemas.microsoft.com/office/drawing/2014/main" id="{A0408AB0-E297-4869-0AC8-572D8856F0E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57569CF-D445-7F89-220F-A20D2E623FBD}"/>
              </a:ext>
            </a:extLst>
          </p:cNvPr>
          <p:cNvSpPr>
            <a:spLocks noGrp="1"/>
          </p:cNvSpPr>
          <p:nvPr>
            <p:ph type="sldNum" sz="quarter" idx="12"/>
          </p:nvPr>
        </p:nvSpPr>
        <p:spPr/>
        <p:txBody>
          <a:bodyPr/>
          <a:lstStyle/>
          <a:p>
            <a:fld id="{FD561A32-B8B5-4F65-B0B4-6EF51CAB913F}" type="slidenum">
              <a:rPr lang="en-US" smtClean="0"/>
              <a:t>‹#›</a:t>
            </a:fld>
            <a:endParaRPr lang="en-US"/>
          </a:p>
        </p:txBody>
      </p:sp>
    </p:spTree>
    <p:extLst>
      <p:ext uri="{BB962C8B-B14F-4D97-AF65-F5344CB8AC3E}">
        <p14:creationId xmlns:p14="http://schemas.microsoft.com/office/powerpoint/2010/main" val="372999365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C94606F-02A3-4671-8B07-DDBCDFCDF290}"/>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599ED93D-D78B-7D37-D5BC-A52F523ABCA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43111E5-210C-CD46-D07B-DB049BC80433}"/>
              </a:ext>
            </a:extLst>
          </p:cNvPr>
          <p:cNvSpPr>
            <a:spLocks noGrp="1"/>
          </p:cNvSpPr>
          <p:nvPr>
            <p:ph type="dt" sz="half" idx="10"/>
          </p:nvPr>
        </p:nvSpPr>
        <p:spPr/>
        <p:txBody>
          <a:bodyPr/>
          <a:lstStyle/>
          <a:p>
            <a:fld id="{7E1DCE76-E0BF-482A-97BA-7815D51D5DC8}" type="datetimeFigureOut">
              <a:rPr lang="en-US" smtClean="0"/>
              <a:t>8/1/2026</a:t>
            </a:fld>
            <a:endParaRPr lang="en-US"/>
          </a:p>
        </p:txBody>
      </p:sp>
      <p:sp>
        <p:nvSpPr>
          <p:cNvPr id="5" name="Footer Placeholder 4">
            <a:extLst>
              <a:ext uri="{FF2B5EF4-FFF2-40B4-BE49-F238E27FC236}">
                <a16:creationId xmlns:a16="http://schemas.microsoft.com/office/drawing/2014/main" id="{53AB6BBD-36F5-564B-ABE3-47B795FFA6E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C8CC7F4-0829-3E71-AA8B-605B69E67FB6}"/>
              </a:ext>
            </a:extLst>
          </p:cNvPr>
          <p:cNvSpPr>
            <a:spLocks noGrp="1"/>
          </p:cNvSpPr>
          <p:nvPr>
            <p:ph type="sldNum" sz="quarter" idx="12"/>
          </p:nvPr>
        </p:nvSpPr>
        <p:spPr/>
        <p:txBody>
          <a:bodyPr/>
          <a:lstStyle/>
          <a:p>
            <a:fld id="{FD561A32-B8B5-4F65-B0B4-6EF51CAB913F}" type="slidenum">
              <a:rPr lang="en-US" smtClean="0"/>
              <a:t>‹#›</a:t>
            </a:fld>
            <a:endParaRPr lang="en-US"/>
          </a:p>
        </p:txBody>
      </p:sp>
    </p:spTree>
    <p:extLst>
      <p:ext uri="{BB962C8B-B14F-4D97-AF65-F5344CB8AC3E}">
        <p14:creationId xmlns:p14="http://schemas.microsoft.com/office/powerpoint/2010/main" val="402747230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C093860-CFF4-0851-70A1-7033D1DDED9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11D36D00-751A-F9C2-B8CD-0C8EC974553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831A09C-8318-5CBF-34A7-5049282F96E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E1DCE76-E0BF-482A-97BA-7815D51D5DC8}" type="datetimeFigureOut">
              <a:rPr lang="en-US" smtClean="0"/>
              <a:t>8/1/2026</a:t>
            </a:fld>
            <a:endParaRPr lang="en-US"/>
          </a:p>
        </p:txBody>
      </p:sp>
      <p:sp>
        <p:nvSpPr>
          <p:cNvPr id="5" name="Footer Placeholder 4">
            <a:extLst>
              <a:ext uri="{FF2B5EF4-FFF2-40B4-BE49-F238E27FC236}">
                <a16:creationId xmlns:a16="http://schemas.microsoft.com/office/drawing/2014/main" id="{EC1B92ED-DA16-3A2C-A03B-E59962D7746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494CFACB-E9C8-7666-D81E-DCD6BBD7072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D561A32-B8B5-4F65-B0B4-6EF51CAB913F}" type="slidenum">
              <a:rPr lang="en-US" smtClean="0"/>
              <a:t>‹#›</a:t>
            </a:fld>
            <a:endParaRPr lang="en-US"/>
          </a:p>
        </p:txBody>
      </p:sp>
    </p:spTree>
    <p:extLst>
      <p:ext uri="{BB962C8B-B14F-4D97-AF65-F5344CB8AC3E}">
        <p14:creationId xmlns:p14="http://schemas.microsoft.com/office/powerpoint/2010/main" val="75190665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967B072-56C4-CD27-F6BF-61B824A99799}"/>
              </a:ext>
            </a:extLst>
          </p:cNvPr>
          <p:cNvSpPr>
            <a:spLocks noGrp="1"/>
          </p:cNvSpPr>
          <p:nvPr>
            <p:ph type="title"/>
          </p:nvPr>
        </p:nvSpPr>
        <p:spPr/>
        <p:txBody>
          <a:bodyPr>
            <a:normAutofit/>
          </a:bodyPr>
          <a:lstStyle/>
          <a:p>
            <a:r>
              <a:rPr lang="en-US" sz="1200" b="1" dirty="0"/>
              <a:t>QUESTION – calculate the profit </a:t>
            </a:r>
            <a:br>
              <a:rPr lang="en-US" sz="1200" b="1" dirty="0"/>
            </a:br>
            <a:br>
              <a:rPr lang="en-US" sz="1200" dirty="0"/>
            </a:br>
            <a:r>
              <a:rPr lang="en-US" sz="1200" dirty="0"/>
              <a:t>It is March, and the annual NCAA Basketball Tournament is down to the final four teams. Randy Kitchell is a T-shirt vendor who plans to order T-shirts with the names of the final four teams from a manufacturer and then sell them to the fans. The fixed cost of any order is $750, the variable cost per T-shirt to Randy is $8, and Randy’s selling price is $18. However, this price will be charged only until a week after the tournament. After that time, Randy figures that interest in the T-shirts will be low, so he plans to sell all remaining T-shirts, if any, at $6 each. His best guess is that demand for the T-shirts during the full-price period will be 1500. He is thinking about ordering 1450 T-shirts, but he wants to build a spreadsheet model that will let him experiment with the uncertain demand and his order quantity. How should he proceed?</a:t>
            </a:r>
          </a:p>
        </p:txBody>
      </p:sp>
      <p:sp>
        <p:nvSpPr>
          <p:cNvPr id="5" name="Content Placeholder 4">
            <a:extLst>
              <a:ext uri="{FF2B5EF4-FFF2-40B4-BE49-F238E27FC236}">
                <a16:creationId xmlns:a16="http://schemas.microsoft.com/office/drawing/2014/main" id="{6E1FEC4B-9384-DAE2-04FC-002335E7AE25}"/>
              </a:ext>
            </a:extLst>
          </p:cNvPr>
          <p:cNvSpPr>
            <a:spLocks noGrp="1"/>
          </p:cNvSpPr>
          <p:nvPr>
            <p:ph idx="1"/>
          </p:nvPr>
        </p:nvSpPr>
        <p:spPr/>
        <p:txBody>
          <a:bodyPr>
            <a:normAutofit/>
          </a:bodyPr>
          <a:lstStyle/>
          <a:p>
            <a:r>
              <a:rPr lang="en-US" sz="1100" dirty="0"/>
              <a:t>ANSWER </a:t>
            </a:r>
          </a:p>
          <a:p>
            <a:r>
              <a:rPr lang="en-US" sz="1100" dirty="0"/>
              <a:t>The logic behind the model is fairly simple, but the model is built for generality. Specifically, the formulas allow for the order quantity to be less than, equal to, or greater than demand. If demand is greater than the order quantity, Randy will sell all the T-shirts ordered for $18 each. If demand is less than the order quantity, Randy will sell as many T-shirts as are demanded at the $18 price and all leftovers at the $6 price. You can implement this logic in Excel with an IF function.</a:t>
            </a:r>
          </a:p>
          <a:p>
            <a:r>
              <a:rPr lang="en-US" sz="1100" dirty="0"/>
              <a:t>FORMULA  USED = =−B3−B4*B9+IF(B8&gt;B9,B5*B9,B5*B8+B6*(B9−B8))</a:t>
            </a:r>
          </a:p>
          <a:p>
            <a:r>
              <a:rPr lang="en-US" sz="1100" dirty="0"/>
              <a:t>CALCULATED THE PROFIT  PROBLEM  </a:t>
            </a:r>
          </a:p>
          <a:p>
            <a:endParaRPr lang="en-US" sz="1100" dirty="0"/>
          </a:p>
          <a:p>
            <a:endParaRPr lang="en-US" sz="1100" dirty="0"/>
          </a:p>
        </p:txBody>
      </p:sp>
      <p:graphicFrame>
        <p:nvGraphicFramePr>
          <p:cNvPr id="6" name="Table 5">
            <a:extLst>
              <a:ext uri="{FF2B5EF4-FFF2-40B4-BE49-F238E27FC236}">
                <a16:creationId xmlns:a16="http://schemas.microsoft.com/office/drawing/2014/main" id="{D8B5B323-9ED8-2983-97AB-3236820C98B2}"/>
              </a:ext>
            </a:extLst>
          </p:cNvPr>
          <p:cNvGraphicFramePr>
            <a:graphicFrameLocks noGrp="1"/>
          </p:cNvGraphicFramePr>
          <p:nvPr>
            <p:extLst>
              <p:ext uri="{D42A27DB-BD31-4B8C-83A1-F6EECF244321}">
                <p14:modId xmlns:p14="http://schemas.microsoft.com/office/powerpoint/2010/main" val="3385045090"/>
              </p:ext>
            </p:extLst>
          </p:nvPr>
        </p:nvGraphicFramePr>
        <p:xfrm>
          <a:off x="1219200" y="3559277"/>
          <a:ext cx="2104102" cy="1986116"/>
        </p:xfrm>
        <a:graphic>
          <a:graphicData uri="http://schemas.openxmlformats.org/drawingml/2006/table">
            <a:tbl>
              <a:tblPr>
                <a:tableStyleId>{5C22544A-7EE6-4342-B048-85BDC9FD1C3A}</a:tableStyleId>
              </a:tblPr>
              <a:tblGrid>
                <a:gridCol w="1412343">
                  <a:extLst>
                    <a:ext uri="{9D8B030D-6E8A-4147-A177-3AD203B41FA5}">
                      <a16:colId xmlns:a16="http://schemas.microsoft.com/office/drawing/2014/main" val="397985995"/>
                    </a:ext>
                  </a:extLst>
                </a:gridCol>
                <a:gridCol w="691759">
                  <a:extLst>
                    <a:ext uri="{9D8B030D-6E8A-4147-A177-3AD203B41FA5}">
                      <a16:colId xmlns:a16="http://schemas.microsoft.com/office/drawing/2014/main" val="587335535"/>
                    </a:ext>
                  </a:extLst>
                </a:gridCol>
              </a:tblGrid>
              <a:tr h="180556">
                <a:tc>
                  <a:txBody>
                    <a:bodyPr/>
                    <a:lstStyle/>
                    <a:p>
                      <a:pPr algn="l" fontAlgn="b">
                        <a:buNone/>
                      </a:pPr>
                      <a:r>
                        <a:rPr lang="en-US" sz="1100" u="none" strike="noStrike">
                          <a:effectLst/>
                        </a:rPr>
                        <a:t>NCAA T-shirt sales </a:t>
                      </a:r>
                      <a:endParaRPr lang="en-US" sz="11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buNone/>
                      </a:pPr>
                      <a:endParaRPr lang="en-US" sz="11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2427977647"/>
                  </a:ext>
                </a:extLst>
              </a:tr>
              <a:tr h="180556">
                <a:tc>
                  <a:txBody>
                    <a:bodyPr/>
                    <a:lstStyle/>
                    <a:p>
                      <a:pPr algn="l" fontAlgn="b">
                        <a:buNone/>
                      </a:pPr>
                      <a:endParaRPr lang="en-US" sz="1100" b="0" i="0" u="none" strike="noStrike" dirty="0">
                        <a:solidFill>
                          <a:srgbClr val="000000"/>
                        </a:solidFill>
                        <a:effectLst/>
                        <a:latin typeface="Calibri" panose="020F0502020204030204" pitchFamily="34" charset="0"/>
                      </a:endParaRPr>
                    </a:p>
                  </a:txBody>
                  <a:tcPr marL="7620" marR="7620" marT="7620" marB="0" anchor="b"/>
                </a:tc>
                <a:tc>
                  <a:txBody>
                    <a:bodyPr/>
                    <a:lstStyle/>
                    <a:p>
                      <a:pPr algn="l" fontAlgn="b">
                        <a:buNone/>
                      </a:pPr>
                      <a:endParaRPr lang="en-US" sz="11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2505790490"/>
                  </a:ext>
                </a:extLst>
              </a:tr>
              <a:tr h="180556">
                <a:tc>
                  <a:txBody>
                    <a:bodyPr/>
                    <a:lstStyle/>
                    <a:p>
                      <a:pPr algn="l" fontAlgn="b">
                        <a:buNone/>
                      </a:pPr>
                      <a:r>
                        <a:rPr lang="en-US" sz="1100" u="none" strike="noStrike">
                          <a:effectLst/>
                        </a:rPr>
                        <a:t>fixed cost </a:t>
                      </a:r>
                      <a:endParaRPr lang="en-US" sz="11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buNone/>
                      </a:pPr>
                      <a:r>
                        <a:rPr lang="en-US" sz="1100" u="none" strike="noStrike">
                          <a:effectLst/>
                        </a:rPr>
                        <a:t>750</a:t>
                      </a:r>
                      <a:endParaRPr lang="en-US" sz="11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2588052453"/>
                  </a:ext>
                </a:extLst>
              </a:tr>
              <a:tr h="180556">
                <a:tc>
                  <a:txBody>
                    <a:bodyPr/>
                    <a:lstStyle/>
                    <a:p>
                      <a:pPr algn="l" fontAlgn="b">
                        <a:buNone/>
                      </a:pPr>
                      <a:r>
                        <a:rPr lang="en-US" sz="1100" u="none" strike="noStrike">
                          <a:effectLst/>
                        </a:rPr>
                        <a:t>variable cost </a:t>
                      </a:r>
                      <a:endParaRPr lang="en-US" sz="11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buNone/>
                      </a:pPr>
                      <a:r>
                        <a:rPr lang="en-US" sz="1100" u="none" strike="noStrike">
                          <a:effectLst/>
                        </a:rPr>
                        <a:t>8</a:t>
                      </a:r>
                      <a:endParaRPr lang="en-US" sz="11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62998306"/>
                  </a:ext>
                </a:extLst>
              </a:tr>
              <a:tr h="180556">
                <a:tc>
                  <a:txBody>
                    <a:bodyPr/>
                    <a:lstStyle/>
                    <a:p>
                      <a:pPr algn="l" fontAlgn="b">
                        <a:buNone/>
                      </a:pPr>
                      <a:r>
                        <a:rPr lang="en-US" sz="1100" u="none" strike="noStrike">
                          <a:effectLst/>
                        </a:rPr>
                        <a:t>selling price </a:t>
                      </a:r>
                      <a:endParaRPr lang="en-US" sz="11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buNone/>
                      </a:pPr>
                      <a:r>
                        <a:rPr lang="en-US" sz="1100" u="none" strike="noStrike">
                          <a:effectLst/>
                        </a:rPr>
                        <a:t>18</a:t>
                      </a:r>
                      <a:endParaRPr lang="en-US" sz="11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2486617289"/>
                  </a:ext>
                </a:extLst>
              </a:tr>
              <a:tr h="180556">
                <a:tc>
                  <a:txBody>
                    <a:bodyPr/>
                    <a:lstStyle/>
                    <a:p>
                      <a:pPr algn="l" fontAlgn="b">
                        <a:buNone/>
                      </a:pPr>
                      <a:r>
                        <a:rPr lang="en-US" sz="1100" u="none" strike="noStrike">
                          <a:effectLst/>
                        </a:rPr>
                        <a:t>discount price </a:t>
                      </a:r>
                      <a:endParaRPr lang="en-US" sz="11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buNone/>
                      </a:pPr>
                      <a:r>
                        <a:rPr lang="en-US" sz="1100" u="none" strike="noStrike">
                          <a:effectLst/>
                        </a:rPr>
                        <a:t>6</a:t>
                      </a:r>
                      <a:endParaRPr lang="en-US" sz="11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1589425280"/>
                  </a:ext>
                </a:extLst>
              </a:tr>
              <a:tr h="180556">
                <a:tc>
                  <a:txBody>
                    <a:bodyPr/>
                    <a:lstStyle/>
                    <a:p>
                      <a:pPr algn="l" fontAlgn="b">
                        <a:buNone/>
                      </a:pPr>
                      <a:endParaRPr lang="en-US" sz="11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buNone/>
                      </a:pPr>
                      <a:endParaRPr lang="en-US" sz="11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4251538603"/>
                  </a:ext>
                </a:extLst>
              </a:tr>
              <a:tr h="180556">
                <a:tc>
                  <a:txBody>
                    <a:bodyPr/>
                    <a:lstStyle/>
                    <a:p>
                      <a:pPr algn="l" fontAlgn="b">
                        <a:buNone/>
                      </a:pPr>
                      <a:r>
                        <a:rPr lang="en-US" sz="1100" u="none" strike="noStrike">
                          <a:effectLst/>
                        </a:rPr>
                        <a:t>demand </a:t>
                      </a:r>
                      <a:endParaRPr lang="en-US" sz="11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buNone/>
                      </a:pPr>
                      <a:r>
                        <a:rPr lang="en-US" sz="1100" u="none" strike="noStrike">
                          <a:effectLst/>
                        </a:rPr>
                        <a:t>1500</a:t>
                      </a:r>
                      <a:endParaRPr lang="en-US" sz="11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3544580052"/>
                  </a:ext>
                </a:extLst>
              </a:tr>
              <a:tr h="180556">
                <a:tc>
                  <a:txBody>
                    <a:bodyPr/>
                    <a:lstStyle/>
                    <a:p>
                      <a:pPr algn="l" fontAlgn="b">
                        <a:buNone/>
                      </a:pPr>
                      <a:r>
                        <a:rPr lang="en-US" sz="1100" u="none" strike="noStrike">
                          <a:effectLst/>
                        </a:rPr>
                        <a:t>order</a:t>
                      </a:r>
                      <a:endParaRPr lang="en-US" sz="11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buNone/>
                      </a:pPr>
                      <a:r>
                        <a:rPr lang="en-US" sz="1100" u="none" strike="noStrike">
                          <a:effectLst/>
                        </a:rPr>
                        <a:t>1450</a:t>
                      </a:r>
                      <a:endParaRPr lang="en-US" sz="11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3851591588"/>
                  </a:ext>
                </a:extLst>
              </a:tr>
              <a:tr h="180556">
                <a:tc>
                  <a:txBody>
                    <a:bodyPr/>
                    <a:lstStyle/>
                    <a:p>
                      <a:pPr algn="l" fontAlgn="b">
                        <a:buNone/>
                      </a:pPr>
                      <a:r>
                        <a:rPr lang="en-US" sz="1100" u="none" strike="noStrike">
                          <a:effectLst/>
                        </a:rPr>
                        <a:t>profit </a:t>
                      </a:r>
                      <a:endParaRPr lang="en-US" sz="11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buNone/>
                      </a:pPr>
                      <a:r>
                        <a:rPr lang="en-US" sz="1100" b="0" i="0" u="none" strike="noStrike" dirty="0">
                          <a:solidFill>
                            <a:srgbClr val="000000"/>
                          </a:solidFill>
                          <a:effectLst/>
                          <a:latin typeface="Calibri" panose="020F0502020204030204" pitchFamily="34" charset="0"/>
                        </a:rPr>
                        <a:t>13750</a:t>
                      </a:r>
                    </a:p>
                  </a:txBody>
                  <a:tcPr marL="7620" marR="7620" marT="7620" marB="0" anchor="b"/>
                </a:tc>
                <a:extLst>
                  <a:ext uri="{0D108BD9-81ED-4DB2-BD59-A6C34878D82A}">
                    <a16:rowId xmlns:a16="http://schemas.microsoft.com/office/drawing/2014/main" val="508226014"/>
                  </a:ext>
                </a:extLst>
              </a:tr>
              <a:tr h="180556">
                <a:tc>
                  <a:txBody>
                    <a:bodyPr/>
                    <a:lstStyle/>
                    <a:p>
                      <a:pPr algn="l" fontAlgn="b">
                        <a:buNone/>
                      </a:pPr>
                      <a:endParaRPr lang="en-US" sz="11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buNone/>
                      </a:pPr>
                      <a:endParaRPr lang="en-US" sz="1100" b="0" i="0" u="none" strike="noStrike" dirty="0">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9712781"/>
                  </a:ext>
                </a:extLst>
              </a:tr>
            </a:tbl>
          </a:graphicData>
        </a:graphic>
      </p:graphicFrame>
    </p:spTree>
    <p:extLst>
      <p:ext uri="{BB962C8B-B14F-4D97-AF65-F5344CB8AC3E}">
        <p14:creationId xmlns:p14="http://schemas.microsoft.com/office/powerpoint/2010/main" val="183630503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44</TotalTime>
  <Words>344</Words>
  <Application>Microsoft Office PowerPoint</Application>
  <PresentationFormat>Widescreen</PresentationFormat>
  <Paragraphs>20</Paragraphs>
  <Slides>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vt:i4>
      </vt:variant>
    </vt:vector>
  </HeadingPairs>
  <TitlesOfParts>
    <vt:vector size="5" baseType="lpstr">
      <vt:lpstr>Arial</vt:lpstr>
      <vt:lpstr>Calibri</vt:lpstr>
      <vt:lpstr>Calibri Light</vt:lpstr>
      <vt:lpstr>Office Theme</vt:lpstr>
      <vt:lpstr>QUESTION – calculate the profit   It is March, and the annual NCAA Basketball Tournament is down to the final four teams. Randy Kitchell is a T-shirt vendor who plans to order T-shirts with the names of the final four teams from a manufacturer and then sell them to the fans. The fixed cost of any order is $750, the variable cost per T-shirt to Randy is $8, and Randy’s selling price is $18. However, this price will be charged only until a week after the tournament. After that time, Randy figures that interest in the T-shirts will be low, so he plans to sell all remaining T-shirts, if any, at $6 each. His best guess is that demand for the T-shirts during the full-price period will be 1500. He is thinking about ordering 1450 T-shirts, but he wants to build a spreadsheet model that will let him experiment with the uncertain demand and his order quantity. How should he proceed?</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Gurbaj Singh</dc:creator>
  <cp:lastModifiedBy>Gurbaj Singh</cp:lastModifiedBy>
  <cp:revision>1</cp:revision>
  <dcterms:created xsi:type="dcterms:W3CDTF">2026-07-31T22:33:49Z</dcterms:created>
  <dcterms:modified xsi:type="dcterms:W3CDTF">2026-08-01T19:52:37Z</dcterms:modified>
</cp:coreProperties>
</file>